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推理能力 (MMLU)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</c:v>
                </c:pt>
                <c:pt idx="1">
                  <c:v>42</c:v>
                </c:pt>
                <c:pt idx="2">
                  <c:v>55</c:v>
                </c:pt>
                <c:pt idx="3">
                  <c:v>62</c:v>
                </c:pt>
                <c:pt idx="4">
                  <c:v>70</c:v>
                </c:pt>
                <c:pt idx="5">
                  <c:v>78</c:v>
                </c:pt>
                <c:pt idx="6">
                  <c:v>85</c:v>
                </c:pt>
                <c:pt idx="7">
                  <c:v>89</c:v>
                </c:pt>
                <c:pt idx="8">
                  <c:v>93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编码能力 (HumanEval)</c:v>
                </c:pt>
              </c:strCache>
            </c:strRef>
          </c:tx>
          <c:spPr>
            <a:solidFill>
              <a:srgbClr val="7C3AED"/>
            </a:solidFill>
            <a:ln w="381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40</c:v>
                </c:pt>
                <c:pt idx="4">
                  <c:v>52</c:v>
                </c:pt>
                <c:pt idx="5">
                  <c:v>65</c:v>
                </c:pt>
                <c:pt idx="6">
                  <c:v>75</c:v>
                </c:pt>
                <c:pt idx="7">
                  <c:v>82</c:v>
                </c:pt>
                <c:pt idx="8">
                  <c:v>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D1D5D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D1D5DB"/>
                    </a:solidFill>
                    <a:latin typeface="Arial"/>
                  </a:rPr>
                  <a:t>年份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1D5D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D1D5D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D1D5DB"/>
                    </a:solidFill>
                    <a:latin typeface="Arial"/>
                  </a:rPr>
                  <a:t>得分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1D5D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0609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D1D5D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AI采纳率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D1D5D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技术</c:v>
                  </c:pt>
                  <c:pt idx="1">
                    <c:v>金融</c:v>
                  </c:pt>
                  <c:pt idx="2">
                    <c:v>医疗</c:v>
                  </c:pt>
                  <c:pt idx="3">
                    <c:v>制造</c:v>
                  </c:pt>
                  <c:pt idx="4">
                    <c:v>零售</c:v>
                  </c:pt>
                  <c:pt idx="5">
                    <c:v>教育</c:v>
                  </c:pt>
                  <c:pt idx="6">
                    <c:v>农业</c:v>
                  </c:pt>
                  <c:pt idx="7">
                    <c:v>能源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</c:v>
                </c:pt>
                <c:pt idx="1">
                  <c:v>65</c:v>
                </c:pt>
                <c:pt idx="2">
                  <c:v>58</c:v>
                </c:pt>
                <c:pt idx="3">
                  <c:v>45</c:v>
                </c:pt>
                <c:pt idx="4">
                  <c:v>40</c:v>
                </c:pt>
                <c:pt idx="5">
                  <c:v>32</c:v>
                </c:pt>
                <c:pt idx="6">
                  <c:v>22</c:v>
                </c:pt>
                <c:pt idx="7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D1D5D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D1D5D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D1D5DB"/>
                    </a:solidFill>
                    <a:latin typeface="Arial"/>
                  </a:rPr>
                  <a:t>行业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1D5D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D1D5D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D1D5DB"/>
                    </a:solidFill>
                    <a:latin typeface="Arial"/>
                  </a:rPr>
                  <a:t>AI 采纳率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1D5D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06091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技能需求分布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F43F5E"/>
              </a:solidFill>
              <a:effectLst/>
            </c:spPr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AI/ML 工程</c:v>
                </c:pt>
                <c:pt idx="1">
                  <c:v>数据科学</c:v>
                </c:pt>
                <c:pt idx="2">
                  <c:v>产品管理</c:v>
                </c:pt>
                <c:pt idx="3">
                  <c:v>创意设计</c:v>
                </c:pt>
                <c:pt idx="4">
                  <c:v>人机交互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32</c:v>
                </c:pt>
                <c:pt idx="1">
                  <c:v>25</c:v>
                </c:pt>
                <c:pt idx="2">
                  <c:v>18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</c:pieChart>
      <c:spPr>
        <a:solidFill>
          <a:srgbClr val="0609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D1D5D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988963"/>
            <a:ext cx="31085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FUTURE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15901" y="1341388"/>
            <a:ext cx="3108505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16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</a:t>
            </a:r>
            <a:endParaRPr lang="en-US" sz="4200" dirty="0"/>
          </a:p>
          <a:p>
            <a:pPr algn="l" indent="0" marL="0">
              <a:lnSpc>
                <a:spcPts val="5040"/>
              </a:lnSpc>
              <a:spcAft>
                <a:spcPts val="16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与未来工作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15901" y="3230761"/>
            <a:ext cx="762000" cy="507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15901" y="3687812"/>
            <a:ext cx="31085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技术变革如何重塑我们的职业生涯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5901" y="3973562"/>
            <a:ext cx="31085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2026年5月 · 技术趋势报告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0609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228600"/>
            <a:ext cx="803168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技术演进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952500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模型能力指数级增长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365200"/>
            <a:ext cx="3627069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从2018年的GPT-1到2026年的前沿模型，AI在推理、编程和多模态理解方面取得了跨越式进步。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989981"/>
            <a:ext cx="1049834" cy="975420"/>
          </a:xfrm>
          <a:prstGeom prst="rect">
            <a:avLst/>
          </a:prstGeom>
          <a:solidFill>
            <a:srgbClr val="0609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53951" y="1989981"/>
            <a:ext cx="0" cy="97542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401" y="2142381"/>
            <a:ext cx="72107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5401" y="2365921"/>
            <a:ext cx="72107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计算规模增长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87885" y="1989981"/>
            <a:ext cx="1049982" cy="975420"/>
          </a:xfrm>
          <a:prstGeom prst="rect">
            <a:avLst/>
          </a:prstGeom>
          <a:solidFill>
            <a:srgbClr val="0609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906935" y="1989981"/>
            <a:ext cx="0" cy="97542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78385" y="2142381"/>
            <a:ext cx="721224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78385" y="2365921"/>
            <a:ext cx="721224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编码任务通过率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41018" y="1989981"/>
            <a:ext cx="1049834" cy="975420"/>
          </a:xfrm>
          <a:prstGeom prst="rect">
            <a:avLst/>
          </a:prstGeom>
          <a:solidFill>
            <a:srgbClr val="0609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160068" y="1989981"/>
            <a:ext cx="0" cy="97542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1518" y="2142381"/>
            <a:ext cx="72107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1518" y="2365921"/>
            <a:ext cx="72107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主流模型发布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1851" y="952500"/>
          <a:ext cx="4210050" cy="30670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0609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228600"/>
            <a:ext cx="803168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行业影响分布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952500"/>
            <a:ext cx="34978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正在重塑每个行业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365200"/>
            <a:ext cx="3497884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不同行业对AI的采纳速度和应用深度各有不同，技术、金融和医疗领跑本轮变革。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989981"/>
            <a:ext cx="3429298" cy="659904"/>
          </a:xfrm>
          <a:prstGeom prst="roundRect">
            <a:avLst>
              <a:gd name="adj" fmla="val 7698"/>
            </a:avLst>
          </a:prstGeom>
          <a:solidFill>
            <a:srgbClr val="0609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53951" y="1989981"/>
            <a:ext cx="0" cy="65990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702" y="2116931"/>
            <a:ext cx="3096512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技术行业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代码生成与自动化测试已成为标配，开发效率提升40%以上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4901" y="2751386"/>
            <a:ext cx="3429298" cy="659904"/>
          </a:xfrm>
          <a:prstGeom prst="roundRect">
            <a:avLst>
              <a:gd name="adj" fmla="val 7698"/>
            </a:avLst>
          </a:prstGeom>
          <a:solidFill>
            <a:srgbClr val="0609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53951" y="2751386"/>
            <a:ext cx="0" cy="65990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702" y="2878336"/>
            <a:ext cx="3096512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金融服务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智能风控与量化交易系统全面升级，人工审核量下降60%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4901" y="3512790"/>
            <a:ext cx="3429298" cy="659904"/>
          </a:xfrm>
          <a:prstGeom prst="roundRect">
            <a:avLst>
              <a:gd name="adj" fmla="val 7698"/>
            </a:avLst>
          </a:prstGeom>
          <a:solidFill>
            <a:srgbClr val="0609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53951" y="3512790"/>
            <a:ext cx="0" cy="65990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702" y="3639741"/>
            <a:ext cx="3096512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医疗健康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AI辅助诊断准确率达95%，药物研发周期缩短30%-50%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445198" y="952500"/>
          <a:ext cx="4082951" cy="30670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0609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228600"/>
            <a:ext cx="803168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技能转型趋势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952500"/>
            <a:ext cx="37568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未来最受欢迎的五大能力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365200"/>
            <a:ext cx="375686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到2030年，全球将有超过10亿个工作岗位因AI而发生根本性变化。复合型人才将成为最稀缺的资源。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989981"/>
            <a:ext cx="3683198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系统思维与提示工程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跨领域问题解决能力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数据素养与分析思维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创造力与战略思维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人机协作与伦理判断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699099" y="952500"/>
          <a:ext cx="3829050" cy="30670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2571" y="656927"/>
            <a:ext cx="79790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82571" y="1060103"/>
            <a:ext cx="797900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拥抱智能时代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064050" y="1952179"/>
            <a:ext cx="1015901" cy="5075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2571" y="2307729"/>
            <a:ext cx="797900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0"/>
              </a:lnSpc>
              <a:spcAft>
                <a:spcPts val="28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不是替代人类，而是放大每个人的潜能。</a:t>
            </a:r>
            <a:endParaRPr lang="en-US" sz="1400" dirty="0"/>
          </a:p>
          <a:p>
            <a:pPr algn="ctr" indent="0" marL="0">
              <a:lnSpc>
                <a:spcPts val="2380"/>
              </a:lnSpc>
              <a:spcAft>
                <a:spcPts val="28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适应变化、持续学习、保持好奇心——是面向未来最好的策略。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0797" y="3267819"/>
            <a:ext cx="2438251" cy="1218605"/>
          </a:xfrm>
          <a:prstGeom prst="roundRect">
            <a:avLst>
              <a:gd name="adj" fmla="val 416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3628" y="3521720"/>
            <a:ext cx="2072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3628" y="3851821"/>
            <a:ext cx="207258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拥抱终身学习，建立 AI 时代的知识体系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52949" y="3267819"/>
            <a:ext cx="2438251" cy="1218605"/>
          </a:xfrm>
          <a:prstGeom prst="roundRect">
            <a:avLst>
              <a:gd name="adj" fmla="val 416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35780" y="3521720"/>
            <a:ext cx="2072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5780" y="3851821"/>
            <a:ext cx="207258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灵活调整职业路径，利用 AI 工具提升效率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45101" y="3267819"/>
            <a:ext cx="2438251" cy="1218605"/>
          </a:xfrm>
          <a:prstGeom prst="roundRect">
            <a:avLst>
              <a:gd name="adj" fmla="val 416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27932" y="3521720"/>
            <a:ext cx="2072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27932" y="3851821"/>
            <a:ext cx="207258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专注于人类独有的创造力、判断力与共情能力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AI与未来工作</dc:title>
  <dc:subject>PptxGenJS Presentation</dc:subject>
  <dc:creator>AI Research</dc:creator>
  <cp:lastModifiedBy>AI Research</cp:lastModifiedBy>
  <cp:revision>1</cp:revision>
  <dcterms:created xsi:type="dcterms:W3CDTF">2026-05-05T07:37:24Z</dcterms:created>
  <dcterms:modified xsi:type="dcterms:W3CDTF">2026-05-05T07:37:24Z</dcterms:modified>
</cp:coreProperties>
</file>